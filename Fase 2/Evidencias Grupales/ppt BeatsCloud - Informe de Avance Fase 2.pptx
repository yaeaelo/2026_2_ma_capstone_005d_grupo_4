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DM Sans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2F3B85-4531-4183-9FE3-5C16FE66FCD1}">
  <a:tblStyle styleId="{122F3B85-4531-4183-9FE3-5C16FE66FC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DMSans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JetBrains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-bold.fntdata"/><Relationship Id="rId18" Type="http://schemas.openxmlformats.org/officeDocument/2006/relationships/font" Target="fonts/DM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173735"/>
            <a:ext cx="609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036415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DUOC UC SEDE MAIPÚ | PROYECTO APT122 | SEMANA 10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79315"/>
            <a:ext cx="114300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BeatsCloud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202185"/>
            <a:ext cx="7524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Plataforma web para la compra y venta segura de instrumentales musicales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592835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Grupo 004: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Felipe Urtubia, Vicente Monroy, Ismael Araya |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Docente: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Fabián Álvarez Montenegro | 15 de octubre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2581275"/>
            <a:ext cx="644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1253728" y="2581275"/>
            <a:ext cx="42666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520332" y="2581275"/>
            <a:ext cx="155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7072758" y="2581275"/>
            <a:ext cx="4509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3086100"/>
            <a:ext cx="644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253728" y="3086100"/>
            <a:ext cx="42666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520332" y="3086100"/>
            <a:ext cx="155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072758" y="3086100"/>
            <a:ext cx="4509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3590925"/>
            <a:ext cx="644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253728" y="3590925"/>
            <a:ext cx="42666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520332" y="3590925"/>
            <a:ext cx="155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072758" y="3590925"/>
            <a:ext cx="4509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4095750"/>
            <a:ext cx="644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253728" y="4095750"/>
            <a:ext cx="42666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520332" y="4095750"/>
            <a:ext cx="155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072758" y="4095750"/>
            <a:ext cx="4509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" y="4600575"/>
            <a:ext cx="644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253728" y="4600575"/>
            <a:ext cx="42666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520332" y="4600575"/>
            <a:ext cx="155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072758" y="4600575"/>
            <a:ext cx="4509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09600" y="5105400"/>
            <a:ext cx="644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1253728" y="5105400"/>
            <a:ext cx="42666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5520332" y="5105400"/>
            <a:ext cx="155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7072758" y="5105400"/>
            <a:ext cx="4509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09600" y="5610225"/>
            <a:ext cx="6441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1253728" y="5610225"/>
            <a:ext cx="42666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520332" y="5610225"/>
            <a:ext cx="155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7072758" y="5610225"/>
            <a:ext cx="4509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14"/>
          <p:cNvGraphicFramePr/>
          <p:nvPr/>
        </p:nvGraphicFramePr>
        <p:xfrm>
          <a:off x="609600" y="2090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{122F3B85-4531-4183-9FE3-5C16FE66FCD1}</a:tableStyleId>
              </a:tblPr>
              <a:tblGrid>
                <a:gridCol w="644125"/>
                <a:gridCol w="4266600"/>
                <a:gridCol w="1552425"/>
                <a:gridCol w="450965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Objetivo del Proyecto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Qué tenemos listo hoy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Definir requerimientos del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 épicas y 72 tareas ordenadas en Jira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Crear base de datos en 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D4ED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 curso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 tablas creadas y funcionando en el servidor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Guardar audios en la nube (Cloudflare R2)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4530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 retraso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Reprogramado para los Sprints 2 y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Conectar servidor Django con interfaz React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D4ED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 curso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 pantallas listas y API de 23 rutas probada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Flujo de compra, carrito y pago Webpay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D4ED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 curso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Carrito con IVA 19% y pago de prueba activo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Validar funcionamiento y seguridad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D4ED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 curso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22 pruebas automáticas aprobadas sin errores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01. RESUMEN DE AVANCE (10% RÚBRICA) | EXPOSITOR: ISMAEL ARAYA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Propósito y Estado de Objetivos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062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443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8244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02. METODOLOGÍA Y ESTÁNDARES (10% RÚBRICA) | EXPOSITOR: ISMAEL ARAYA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Organización Scrum en Jira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4038600"/>
            <a:ext cx="11277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Equipo claro: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Felipe (Product Owner y Backend), Ismael (Scrum Master y Frontend), Vicente (QA y Pruebas).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4419600"/>
            <a:ext cx="11277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Ritmo de trabajo: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Sprints de 2 semanas (19 a 22 puntos) cerrando cada jueves.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800600"/>
            <a:ext cx="11277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Transparencia en Sprint 1: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Cerramos hoy documentando el avance real en Review y Retrospectiva.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294209" y="2667000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D4ED8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94209" y="33528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Módulos (Épicas)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035028" y="2667000"/>
            <a:ext cx="1409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72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035028" y="3352800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Tareas totales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28196" y="2667000"/>
            <a:ext cx="191690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97706"/>
                </a:solidFill>
                <a:latin typeface="DM Sans"/>
                <a:ea typeface="DM Sans"/>
                <a:cs typeface="DM Sans"/>
                <a:sym typeface="DM Sans"/>
              </a:rPr>
              <a:t>83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528196" y="3352800"/>
            <a:ext cx="19169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Puntos en 4 Sprints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430940" y="2667000"/>
            <a:ext cx="18335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5803D"/>
                </a:solidFill>
                <a:latin typeface="DM Sans"/>
                <a:ea typeface="DM Sans"/>
                <a:cs typeface="DM Sans"/>
                <a:sym typeface="DM Sans"/>
              </a:rPr>
              <a:t>22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430940" y="3352800"/>
            <a:ext cx="18335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Tareas terminadas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609600" y="2290762"/>
            <a:ext cx="5257800" cy="3133725"/>
          </a:xfrm>
          <a:prstGeom prst="roundRect">
            <a:avLst>
              <a:gd fmla="val 36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324600" y="2176462"/>
            <a:ext cx="5257800" cy="3362325"/>
          </a:xfrm>
          <a:prstGeom prst="roundRect">
            <a:avLst>
              <a:gd fmla="val 339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03. JUSTIFICACIÓN DE AJUSTES (15% RÚBRICA) | EXPOSITOR: ISMAEL ARAYA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Mejoras Aplicadas desde la Fase 1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14400" y="2595562"/>
            <a:ext cx="61007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Cómo partimos (Fase 1)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29400" y="2481262"/>
            <a:ext cx="5562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D4ED8"/>
                </a:solidFill>
                <a:latin typeface="DM Sans"/>
                <a:ea typeface="DM Sans"/>
                <a:cs typeface="DM Sans"/>
                <a:sym typeface="DM Sans"/>
              </a:rPr>
              <a:t>Ajuste aplicado hoy (Fase 2)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14400" y="3062287"/>
            <a:ext cx="581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Plan en cascada: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Carta Gantt rígida de 18 semanas.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3443287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Interfaz en Next.js: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Recargaba la página al cambiar de vista.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4052887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Alcance muy amplio: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Incluía Webpay, Stripe y suscripciones.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662487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Subida de archivos: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Caja para arrastrar y soltar (Drag &amp; Drop).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629400" y="2947987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Trabajo en Sprints: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4 Sprints en Jira con metas quincenales.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629400" y="3557587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Aplicación React (SPA):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La música suena continuo al navegar.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629400" y="4167187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Foco en compra chilena: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Prioridad total al pago con Webpay Plus.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629400" y="4776787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Subida directa segura: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Selector estándar validando formatos de audio.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609600" y="2909887"/>
            <a:ext cx="2571750" cy="1895475"/>
          </a:xfrm>
          <a:prstGeom prst="roundRect">
            <a:avLst>
              <a:gd fmla="val 6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3409950" y="2771775"/>
            <a:ext cx="2571750" cy="21717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210300" y="2909887"/>
            <a:ext cx="2571750" cy="1895475"/>
          </a:xfrm>
          <a:prstGeom prst="roundRect">
            <a:avLst>
              <a:gd fmla="val 6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9010650" y="2909887"/>
            <a:ext cx="2571750" cy="1895475"/>
          </a:xfrm>
          <a:prstGeom prst="roundRect">
            <a:avLst>
              <a:gd fmla="val 60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21468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30765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8900" y="321468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0" y="32146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04. EVIDENCIA DISCIPLINAR: INTERFAZ (40% RÚBRICA) | EXPOSITOR: ISMAEL ARAYA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Avance de la Interfaz Web (Frontend)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8200" y="3671887"/>
            <a:ext cx="277534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17 Pantallas Listas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8200" y="4043362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Catálogo, perfiles, carrito y login.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3638550" y="3533775"/>
            <a:ext cx="232029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Reproductor Continuo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3638550" y="4181475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El audio no se corta al cambiar vista.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438900" y="3671887"/>
            <a:ext cx="277534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Listo para Conectar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438900" y="4043362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Opera con datos de prueba hoy.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239250" y="3671887"/>
            <a:ext cx="277534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Código sin Errores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9239250" y="4043362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Compilación limpia en TypeScript y Vite.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6324600" y="2514600"/>
            <a:ext cx="5257800" cy="571500"/>
          </a:xfrm>
          <a:prstGeom prst="roundRect">
            <a:avLst>
              <a:gd fmla="val 13333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324600" y="3219450"/>
            <a:ext cx="5257800" cy="571500"/>
          </a:xfrm>
          <a:prstGeom prst="roundRect">
            <a:avLst>
              <a:gd fmla="val 13333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324600" y="3924300"/>
            <a:ext cx="5257800" cy="571500"/>
          </a:xfrm>
          <a:prstGeom prst="roundRect">
            <a:avLst>
              <a:gd fmla="val 1333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324600" y="4629150"/>
            <a:ext cx="5257800" cy="571500"/>
          </a:xfrm>
          <a:prstGeom prst="roundRect">
            <a:avLst>
              <a:gd fmla="val 13333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05. EVIDENCIA DISCIPLINAR: DATOS Y ARQUITECTURA (40% RÚBRICA) | EXPOSITOR: FELIPE URTUBIA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Estructura del Sistema y Base de Datos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09600" y="2462212"/>
            <a:ext cx="65722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1D4ED8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09600" y="3376612"/>
            <a:ext cx="6572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Tablas conectadas en PostgreSQL (15 migraciones)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09600" y="3881437"/>
            <a:ext cx="6572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Tablas principales: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Usuarios, Tracks, Géneros, Carrito y Ventas.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09600" y="4224337"/>
            <a:ext cx="5353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Respaldo de pagos: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Registro de transacciones Webpay e historiales.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09600" y="4795837"/>
            <a:ext cx="5353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Siguiente paso: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Agregar datos musicales como BPM (Sprint 3) y Licencias (Sprint 4).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553200" y="2686050"/>
            <a:ext cx="385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DM Sans"/>
                <a:ea typeface="DM Sans"/>
                <a:cs typeface="DM Sans"/>
                <a:sym typeface="DM Sans"/>
              </a:rPr>
              <a:t>Servidor Django 6 + Base PostgreSQL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0334625" y="2686050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5803D"/>
                </a:solidFill>
                <a:latin typeface="DM Sans"/>
                <a:ea typeface="DM Sans"/>
                <a:cs typeface="DM Sans"/>
                <a:sym typeface="DM Sans"/>
              </a:rPr>
              <a:t>Funcionando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553200" y="3390900"/>
            <a:ext cx="3976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DM Sans"/>
                <a:ea typeface="DM Sans"/>
                <a:cs typeface="DM Sans"/>
                <a:sym typeface="DM Sans"/>
              </a:rPr>
              <a:t>Pagos Webpay Plus + Recorte FFmpeg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0334625" y="3390900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5803D"/>
                </a:solidFill>
                <a:latin typeface="DM Sans"/>
                <a:ea typeface="DM Sans"/>
                <a:cs typeface="DM Sans"/>
                <a:sym typeface="DM Sans"/>
              </a:rPr>
              <a:t>Funcionando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553200" y="4095750"/>
            <a:ext cx="34647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Puente API JSON (23 rutas listas)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715500" y="4095750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4ED8"/>
                </a:solidFill>
                <a:latin typeface="DM Sans"/>
                <a:ea typeface="DM Sans"/>
                <a:cs typeface="DM Sans"/>
                <a:sym typeface="DM Sans"/>
              </a:rPr>
              <a:t>Conectar en Sprint 2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553200" y="4800600"/>
            <a:ext cx="33218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2400E"/>
                </a:solidFill>
                <a:latin typeface="DM Sans"/>
                <a:ea typeface="DM Sans"/>
                <a:cs typeface="DM Sans"/>
                <a:sym typeface="DM Sans"/>
              </a:rPr>
              <a:t>Nube Cloudflare R2 para Audios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0363200" y="48006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Sprints 2 y 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795587"/>
            <a:ext cx="2476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271837"/>
            <a:ext cx="2000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748087"/>
            <a:ext cx="2286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224337"/>
            <a:ext cx="2286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4700587"/>
            <a:ext cx="1714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06. EVIDENCIA DISCIPLINAR: SERVIDOR Y PAGOS (40% RÚBRICA) | EXPOSITOR: FELIPE URTUBIA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Lógica del Servidor, Seguridad de Audio y Webpay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09600" y="2771775"/>
            <a:ext cx="1158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Cuentas seguras:</a:t>
            </a:r>
            <a:r>
              <a:rPr b="0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Registro con activación por correo, recuperación de clave y sesiones protegidas.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09600" y="3248025"/>
            <a:ext cx="1158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Protección de instrumentales:</a:t>
            </a:r>
            <a:r>
              <a:rPr b="0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Genera muestra automática de 30 segundos y bloquea descargas sin compra.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09600" y="3724275"/>
            <a:ext cx="1158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Carrito inteligente:</a:t>
            </a:r>
            <a:r>
              <a:rPr b="0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Calcula el 19% de IVA en el servidor y evita comprar dos veces el mismo beat.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09600" y="4200525"/>
            <a:ext cx="1158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Pago con Webpay Plus:</a:t>
            </a:r>
            <a:r>
              <a:rPr b="0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Valida monto y orden con Transbank antes de liberar el archivo original.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09600" y="4676775"/>
            <a:ext cx="1158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Próximo paso:</a:t>
            </a:r>
            <a:r>
              <a:rPr b="0" i="0" lang="en-US" sz="157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Mostrar el comprobante de Webpay directo en React y subir audios a Cloudflare R2.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609600" y="2833687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845694" y="2833687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346156" y="2833687"/>
            <a:ext cx="3059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0405467" y="2833687"/>
            <a:ext cx="117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09600" y="3338512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845694" y="3338512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346156" y="3338512"/>
            <a:ext cx="3059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10405467" y="3338512"/>
            <a:ext cx="117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09600" y="3843337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845694" y="3843337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7346156" y="3843337"/>
            <a:ext cx="3059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0405467" y="3843337"/>
            <a:ext cx="117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609600" y="4348162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845694" y="4348162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346156" y="4348162"/>
            <a:ext cx="3059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0405467" y="4348162"/>
            <a:ext cx="117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9600" y="4852987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845694" y="4852987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7346156" y="4852987"/>
            <a:ext cx="3059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0405467" y="4852987"/>
            <a:ext cx="117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09600" y="5357812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845694" y="5357812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7346156" y="5357812"/>
            <a:ext cx="30593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0405467" y="5357812"/>
            <a:ext cx="117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20"/>
          <p:cNvGraphicFramePr/>
          <p:nvPr/>
        </p:nvGraphicFramePr>
        <p:xfrm>
          <a:off x="609600" y="23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{122F3B85-4531-4183-9FE3-5C16FE66FCD1}</a:tableStyleId>
              </a:tblPr>
              <a:tblGrid>
                <a:gridCol w="4236100"/>
                <a:gridCol w="2500450"/>
                <a:gridCol w="3059300"/>
                <a:gridCol w="1176925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Qué probamos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Herramienta usada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Resultado real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Funciones del servidor (Login, Carrito, Pagos)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Django Test Runner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22 de 22 pruebas aprobadas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Verificado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Revisión de errores en código React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TypeScript (tsc)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 errores encontrados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Verificado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Empaquetado de la interfaz web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Vite 6 Build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1917 módulos listos en 4,3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Verificado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Seguridad de rutas API (IVA y bloqueos)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Cliente de pruebas Django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 de 7 flujos críticos aprobados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Verificado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Prueba rápida de conexión (Smoke Test)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Script test_smoke.py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580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36 de 36 chequeos correctos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Verificado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252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07. EVIDENCIA DE CALIDAD Y PRUEBAS (40% RÚBRICA) | EXPOSITOR: VICENTE MONROY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Pruebas Reales Ejecutadas al Sistema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609600" y="3014662"/>
            <a:ext cx="3505200" cy="1685925"/>
          </a:xfrm>
          <a:prstGeom prst="roundRect">
            <a:avLst>
              <a:gd fmla="val 67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343400" y="3014662"/>
            <a:ext cx="3505200" cy="1685925"/>
          </a:xfrm>
          <a:prstGeom prst="roundRect">
            <a:avLst>
              <a:gd fmla="val 67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8077200" y="3014662"/>
            <a:ext cx="3505200" cy="1685925"/>
          </a:xfrm>
          <a:prstGeom prst="roundRect">
            <a:avLst>
              <a:gd fmla="val 67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08. INDICADORES DE CALIDAD DISCIPLINAR (10% RÚBRICA) | EXPOSITOR: VICENTE MONROY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Metas de Calidad y Resguardo de Seguridad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838200" y="3319462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META: ≥ 95% ÉXITO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38200" y="3567112"/>
            <a:ext cx="4000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Pagos en Webpay Plus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38200" y="3938587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Integración lista; medición de casos en Sprint 2.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4572000" y="3319462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META: 100% BLOQUEO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4572000" y="3567112"/>
            <a:ext cx="4000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Descargas Protegidas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4572000" y="3938587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Bloqueo sin compra activo; link expirable en Sprint 3.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8305800" y="3319462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580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META: ≥ 80% LOGRO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8305800" y="3567112"/>
            <a:ext cx="3886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Facilidad de Uso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8305800" y="3938587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Prueba práctica con 5 usuarios en Sprint 3.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/>
          <p:nvPr/>
        </p:nvSpPr>
        <p:spPr>
          <a:xfrm>
            <a:off x="609600" y="4324350"/>
            <a:ext cx="10972800" cy="857250"/>
          </a:xfrm>
          <a:prstGeom prst="roundRect">
            <a:avLst>
              <a:gd fmla="val 11111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09600" y="2533650"/>
            <a:ext cx="2600325" cy="1447800"/>
          </a:xfrm>
          <a:prstGeom prst="roundRect">
            <a:avLst>
              <a:gd fmla="val 657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3400425" y="2533650"/>
            <a:ext cx="2600325" cy="1447800"/>
          </a:xfrm>
          <a:prstGeom prst="roundRect">
            <a:avLst>
              <a:gd fmla="val 6578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191250" y="2533650"/>
            <a:ext cx="2600325" cy="1447800"/>
          </a:xfrm>
          <a:prstGeom prst="roundRect">
            <a:avLst>
              <a:gd fmla="val 657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8982075" y="2533650"/>
            <a:ext cx="2600325" cy="1447800"/>
          </a:xfrm>
          <a:prstGeom prst="roundRect">
            <a:avLst>
              <a:gd fmla="val 657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1" name="Google Shape;2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4543425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09. MONITOREO Y PLAN DE ACCIÓN (15% RÚBRICA) | EXPOSITOR: VICENTE MONROY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609600" y="685800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Plan de Acción hasta la Entrega Final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876300" y="4514850"/>
            <a:ext cx="105346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2400E"/>
                </a:solidFill>
                <a:latin typeface="DM Sans"/>
                <a:ea typeface="DM Sans"/>
                <a:cs typeface="DM Sans"/>
                <a:sym typeface="DM Sans"/>
              </a:rPr>
              <a:t>Cómo recuperamos el retraso: La API puente ya está programada; mañana se instala en 3 pasos para conectar React.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838200" y="2762250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OCT - 15 OCT (22 PTS)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38200" y="2990850"/>
            <a:ext cx="28128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Sprint 1 (Cierra Hoy)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838200" y="329565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Base lista y traspaso de tareas pendientes.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3629025" y="2762250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OCT - 29 OCT (21 PTS)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3629025" y="2990850"/>
            <a:ext cx="28128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Sprint 2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3629025" y="329565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Unir React con Django y subir audios a R2.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419850" y="2762250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 OCT - 12 NOV (21 PTS)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419850" y="2990850"/>
            <a:ext cx="28128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Sprint 3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419850" y="329565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Links que expiran y pruebas con usuarios.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9210675" y="2762250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NOV - 26 NOV (19 PTS)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9210675" y="2990850"/>
            <a:ext cx="28128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Sprint 4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9210675" y="3295650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Licencias de compra y cierre final.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/>
          <p:nvPr/>
        </p:nvSpPr>
        <p:spPr>
          <a:xfrm>
            <a:off x="5829300" y="4633912"/>
            <a:ext cx="5334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3524250" y="1528762"/>
            <a:ext cx="514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CONCLUSIÓN Y REFLEXIÓN (10% RÚBRICA) | GRUPO 004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970359" y="1871662"/>
            <a:ext cx="10251281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Servidor probado, interfaz completa y plan realista para los próximos 3 sprints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1809750" y="3757612"/>
            <a:ext cx="8572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Recortamos funciones secundarias a tiempo para asegurar lo más importante: el flujo completo de compra y descarga segura con Webpay.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3881437" y="4976812"/>
            <a:ext cx="44291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¿Preguntas o comentarios?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