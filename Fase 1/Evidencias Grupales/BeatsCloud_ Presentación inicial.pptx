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rAhdE2Qx540nLMKhwEO8+8CN3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" Target="slides/slide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2.xml"/><Relationship Id="rId18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“BeatsCloud será una plataforma que conectará a productores musicales con artistas interesados en adquirir instrumentales, loops y acapellas. El proyecto busca reducir el uso no autorizado del contenido y facilitar su comercialización. Para almacenar archivos de alta calidad utilizaremos Cloudflare R2, mientras que PostgreSQL administrará usuarios, catálogo y transacciones. También integraremos Transbank Webpay, permitiendo descargar el archivo completo solamente después de confirmar el pago. El MVP será desarrollado durante 18 semanas utilizando Scrum.” 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eatsCloud nace frente a las dificultades que enfrentan productores independientes para comercializar sus creaciones. Entre ellas se encuentran el acceso no autorizado, el costo de distribuir archivos de alta calidad y la dependencia de plataformas extranjeras. Nuestra propuesta es desarrollar un marketplace adaptado al mercado local, con pagos mediante Webpay, almacenamiento cloud y descarga completa habilitada únicamente después de confirmar la compra. Además de aportar valor al sector musical, el proyecto nos permite aplicar competencias reales de ingeniería informática.” 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“BeatsCloud se relaciona directamente con nuestro perfil de egreso, porque requiere desarrollar una solución web, modelar una base de datos, integrar servicios externos y aplicar controles de seguridad y calidad. Además, permite distribuir responsabilidades según nuestros intereses profesionales. Felipe se enfocará principalmente en backend y pagos; Vicente, en frontend y experiencia de usuario; e Ismael, en bases de datos, cloud y pruebas. De esta manera, trabajaremos como un equipo de desarrollo cercano a un entorno laboral real.” 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p9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0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/>
          <p:nvPr>
            <p:ph idx="2" type="sldImg"/>
          </p:nvPr>
        </p:nvSpPr>
        <p:spPr>
          <a:xfrm>
            <a:off x="685800" y="1143000"/>
            <a:ext cx="5486040" cy="3085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11:notes"/>
          <p:cNvSpPr txBox="1"/>
          <p:nvPr>
            <p:ph idx="1"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:notes"/>
          <p:cNvSpPr txBox="1"/>
          <p:nvPr>
            <p:ph idx="12" type="sldNum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447522" y="1776050"/>
            <a:ext cx="57603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0" u="none" cap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BEATS</a:t>
            </a:r>
            <a:r>
              <a:rPr b="1" lang="en-US" sz="73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CLOUD</a:t>
            </a:r>
            <a:endParaRPr sz="7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4187" y="3330170"/>
            <a:ext cx="57603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Marketplace de instrumentales, loops y acapellas para artistas y productores.</a:t>
            </a:r>
            <a:endParaRPr i="1" sz="19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914524" y="2964770"/>
            <a:ext cx="68400" cy="4569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033324" y="2781890"/>
            <a:ext cx="68400" cy="8226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52124" y="2507570"/>
            <a:ext cx="68400" cy="13713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271284" y="2233250"/>
            <a:ext cx="68400" cy="19200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390084" y="2004650"/>
            <a:ext cx="68400" cy="23772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508884" y="2187530"/>
            <a:ext cx="68400" cy="20112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627684" y="2461850"/>
            <a:ext cx="68400" cy="14628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746484" y="2736170"/>
            <a:ext cx="68400" cy="9141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865644" y="2919050"/>
            <a:ext cx="68400" cy="5484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984444" y="2781890"/>
            <a:ext cx="68400" cy="8226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103244" y="2553290"/>
            <a:ext cx="68400" cy="12798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222044" y="2278970"/>
            <a:ext cx="68400" cy="18285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340844" y="2050370"/>
            <a:ext cx="68400" cy="22857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460004" y="2233250"/>
            <a:ext cx="68400" cy="19200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578804" y="2507570"/>
            <a:ext cx="68400" cy="13713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8697604" y="2781890"/>
            <a:ext cx="68400" cy="8226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816404" y="2964770"/>
            <a:ext cx="68400" cy="4569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8935204" y="2827610"/>
            <a:ext cx="68400" cy="7311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9054364" y="2599010"/>
            <a:ext cx="68400" cy="11883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9173164" y="2324690"/>
            <a:ext cx="68400" cy="17370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9291964" y="2096090"/>
            <a:ext cx="68400" cy="21942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9410764" y="2004650"/>
            <a:ext cx="68400" cy="23772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9529564" y="2233250"/>
            <a:ext cx="68400" cy="19200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9648724" y="2553290"/>
            <a:ext cx="68400" cy="12798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9767524" y="2827610"/>
            <a:ext cx="68400" cy="7311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9886324" y="2964770"/>
            <a:ext cx="68400" cy="4569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10005124" y="2781890"/>
            <a:ext cx="68400" cy="8226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10123924" y="2507570"/>
            <a:ext cx="68400" cy="13713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10243084" y="2278970"/>
            <a:ext cx="68400" cy="18285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10361884" y="2141810"/>
            <a:ext cx="68400" cy="21027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10480684" y="2324690"/>
            <a:ext cx="68400" cy="17370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10599484" y="2599010"/>
            <a:ext cx="68400" cy="11883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10718284" y="2873330"/>
            <a:ext cx="68400" cy="639600"/>
          </a:xfrm>
          <a:prstGeom prst="roundRect">
            <a:avLst>
              <a:gd fmla="val 40000" name="adj"/>
            </a:avLst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6125254" y="4747845"/>
            <a:ext cx="1422000" cy="32880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6125082" y="4753151"/>
            <a:ext cx="14220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FD5FF"/>
                </a:solidFill>
                <a:latin typeface="Roboto"/>
                <a:ea typeface="Roboto"/>
                <a:cs typeface="Roboto"/>
                <a:sym typeface="Roboto"/>
              </a:rPr>
              <a:t>REACT + DJANGO</a:t>
            </a:r>
            <a:endParaRPr sz="1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7712126" y="4747850"/>
            <a:ext cx="1234200" cy="32880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7712126" y="4747850"/>
            <a:ext cx="1234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none" strike="noStrike">
                <a:solidFill>
                  <a:srgbClr val="9066FF"/>
                </a:solidFill>
                <a:latin typeface="Roboto"/>
                <a:ea typeface="Roboto"/>
                <a:cs typeface="Roboto"/>
                <a:sym typeface="Roboto"/>
              </a:rPr>
              <a:t>POSTGRESQL</a:t>
            </a:r>
            <a:endParaRPr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9111446" y="4747850"/>
            <a:ext cx="849900" cy="32880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9111446" y="4747850"/>
            <a:ext cx="8499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none" strike="noStrike">
                <a:solidFill>
                  <a:srgbClr val="FF5D8F"/>
                </a:solidFill>
                <a:latin typeface="Roboto"/>
                <a:ea typeface="Roboto"/>
                <a:cs typeface="Roboto"/>
                <a:sym typeface="Roboto"/>
              </a:rPr>
              <a:t>WEBPAY</a:t>
            </a:r>
            <a:endParaRPr u="none" strike="noStrike">
              <a:solidFill>
                <a:srgbClr val="FF5D8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10126286" y="4747850"/>
            <a:ext cx="1618200" cy="32880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10126286" y="4747850"/>
            <a:ext cx="1618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OBJECT STORAGE</a:t>
            </a:r>
            <a:endParaRPr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454171" y="5636385"/>
            <a:ext cx="73149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Felipe Urtubia  ·  Vicente Monroy  ·  Ismael Araya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454171" y="6029505"/>
            <a:ext cx="73149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Ingeniería en Informática y Telecomunicaciones · Sede Maipú</a:t>
            </a:r>
            <a:endParaRPr sz="16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4171" y="6395265"/>
            <a:ext cx="96009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CAPSTONE 005D  ·  </a:t>
            </a:r>
            <a:r>
              <a:rPr lang="en-US" sz="1450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Profesor </a:t>
            </a:r>
            <a:r>
              <a:rPr lang="en-US" sz="145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Fabián Álvarez Montenegro  ·  Jueves 3 de septiembre de 2026</a:t>
            </a:r>
            <a:endParaRPr sz="145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59436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00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050012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00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94360" y="713160"/>
            <a:ext cx="1100268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Resumen ejecutivo del proyecto</a:t>
            </a:r>
            <a:endParaRPr sz="5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94350" y="1627876"/>
            <a:ext cx="11002800" cy="4588200"/>
          </a:xfrm>
          <a:prstGeom prst="roundRect">
            <a:avLst>
              <a:gd fmla="val 2637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14915" y="1783366"/>
            <a:ext cx="10666800" cy="42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BeatsCloud</a:t>
            </a:r>
            <a:r>
              <a:rPr lang="en-US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es una plataforma web orientada a la publicación, búsqueda, compra y venta de instrumentales, loops y acapellas, conectando a productores musicales con artistas y otros usuarios interesados en adquirir contenido.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El proyecto aborda el no uso de  producciones musicales no autorizadas, el costo de almacenar y distribuir WAVs y stems y la dependencia de plataformas extranjeras que operan con pagos internacionales. </a:t>
            </a:r>
            <a:endParaRPr sz="2000">
              <a:solidFill>
                <a:srgbClr val="F5F5F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5F5F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La solución propone una arquitectura escalable y de bajo costo basada en almacenamiento de objetos, subida directa de archivos y una pasarela de pago local como Transbank, democratizando el acceso al comercio musical para artistas emergentes en el mercado local. </a:t>
            </a:r>
            <a:endParaRPr sz="2000">
              <a:solidFill>
                <a:srgbClr val="F5F5F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5F5F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El desarrollo se ejecutará bajo metodología ágil (Scrum) durante los 5 meses del periodo académico, con un equipo de 3 integrantes de Ingeniería en Informática y Telecomunicaciones.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5F5F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5F5F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9436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BEATSCLOUD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885420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CAPSTONE · KICK OFF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/>
          <p:nvPr/>
        </p:nvSpPr>
        <p:spPr>
          <a:xfrm>
            <a:off x="59436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1050012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94360" y="713160"/>
            <a:ext cx="1100268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Definición del </a:t>
            </a:r>
            <a:r>
              <a:rPr b="1" lang="en-US" sz="43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1" lang="en-US" sz="4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royecto y </a:t>
            </a:r>
            <a:r>
              <a:rPr b="1" lang="en-US" sz="43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1" lang="en-US" sz="4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elevancia </a:t>
            </a:r>
            <a:r>
              <a:rPr b="1" lang="en-US" sz="43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b="1" lang="en-US" sz="4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aboral</a:t>
            </a:r>
            <a:endParaRPr sz="4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94350" y="1893500"/>
            <a:ext cx="5318400" cy="3957000"/>
          </a:xfrm>
          <a:prstGeom prst="roundRect">
            <a:avLst>
              <a:gd fmla="val 2526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914400" y="2011680"/>
            <a:ext cx="1279800" cy="31068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14400" y="2011680"/>
            <a:ext cx="127980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F5D8F"/>
                </a:solidFill>
                <a:latin typeface="Roboto"/>
                <a:ea typeface="Roboto"/>
                <a:cs typeface="Roboto"/>
                <a:sym typeface="Roboto"/>
              </a:rPr>
              <a:t>EL PROBLEMA</a:t>
            </a:r>
            <a:endParaRPr sz="1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914400" y="2450520"/>
            <a:ext cx="4678200" cy="54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¿Qué problema aborda BeatsCloud?</a:t>
            </a:r>
            <a:endParaRPr sz="2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14400" y="3442470"/>
            <a:ext cx="82200" cy="82200"/>
          </a:xfrm>
          <a:prstGeom prst="ellipse">
            <a:avLst/>
          </a:prstGeom>
          <a:solidFill>
            <a:srgbClr val="FF5D8F"/>
          </a:solidFill>
          <a:ln cap="flat" cmpd="sng" w="12700">
            <a:solidFill>
              <a:srgbClr val="FF5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134000" y="3054240"/>
            <a:ext cx="4458600" cy="68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Uso no autorizado de instrumentales y producciones musicales, afectando a productores y artistas emergentes.</a:t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14400" y="4267785"/>
            <a:ext cx="82200" cy="82200"/>
          </a:xfrm>
          <a:prstGeom prst="ellipse">
            <a:avLst/>
          </a:prstGeom>
          <a:solidFill>
            <a:srgbClr val="FF5D8F"/>
          </a:solidFill>
          <a:ln cap="flat" cmpd="sng" w="12700">
            <a:solidFill>
              <a:srgbClr val="FF5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134000" y="3959280"/>
            <a:ext cx="44586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Alto costo de almacenar y distribuir archivos de audio de alta fidelidad (WAV/Stems).</a:t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914400" y="5191403"/>
            <a:ext cx="82200" cy="82200"/>
          </a:xfrm>
          <a:prstGeom prst="ellipse">
            <a:avLst/>
          </a:prstGeom>
          <a:solidFill>
            <a:srgbClr val="FF5D8F"/>
          </a:solidFill>
          <a:ln cap="flat" cmpd="sng" w="12700">
            <a:solidFill>
              <a:srgbClr val="FF5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1134000" y="4878669"/>
            <a:ext cx="44586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Barreras de entrada de plataformas extranjeras (ej. BeatStars): operan en USD y con pasarelas como PayPal.</a:t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278755" y="1893500"/>
            <a:ext cx="5318400" cy="3957000"/>
          </a:xfrm>
          <a:prstGeom prst="roundRect">
            <a:avLst>
              <a:gd fmla="val 2526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598800" y="2011680"/>
            <a:ext cx="1919880" cy="31068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598800" y="2011680"/>
            <a:ext cx="191988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RELEVANCIA LABORAL</a:t>
            </a:r>
            <a:endParaRPr sz="1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598800" y="2377426"/>
            <a:ext cx="4678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¿Por qué vale la pena desarrollarlo?</a:t>
            </a:r>
            <a:endParaRPr sz="2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598800" y="3387312"/>
            <a:ext cx="82200" cy="82200"/>
          </a:xfrm>
          <a:prstGeom prst="ellipse">
            <a:avLst/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818400" y="2966528"/>
            <a:ext cx="44586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Relevante para Ingeniería en Informática y Telecomunicaciones: exige desarrollar una solución tecnológica real ante una necesidad de la industria musical.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598800" y="4406152"/>
            <a:ext cx="82200" cy="82200"/>
          </a:xfrm>
          <a:prstGeom prst="ellipse">
            <a:avLst/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818400" y="4093880"/>
            <a:ext cx="44586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Aporta valor de negocio al enfocarse en el mercado local y latinoamericano, integrando medios de pago locales (Transbank/Webpay).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6598800" y="5284308"/>
            <a:ext cx="82200" cy="82200"/>
          </a:xfrm>
          <a:prstGeom prst="ellipse">
            <a:avLst/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818400" y="4982888"/>
            <a:ext cx="44586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Replica el modelo de localización que ha hecho exitosas a plataformas como Mercado Libre en la región.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9436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BEATSCLOUD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85420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CAPSTONE · KICK OFF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59436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050012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94360" y="713160"/>
            <a:ext cx="1100268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Perfil de </a:t>
            </a:r>
            <a:r>
              <a:rPr b="1" lang="en-US" sz="46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b="1" lang="en-US" sz="46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greso e </a:t>
            </a:r>
            <a:r>
              <a:rPr b="1" lang="en-US" sz="46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1" lang="en-US" sz="46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ntereses </a:t>
            </a:r>
            <a:r>
              <a:rPr b="1" lang="en-US" sz="46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b="1" lang="en-US" sz="46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rofesionales</a:t>
            </a:r>
            <a:endParaRPr sz="46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94360" y="1737360"/>
            <a:ext cx="5318280" cy="4343040"/>
          </a:xfrm>
          <a:prstGeom prst="roundRect">
            <a:avLst>
              <a:gd fmla="val 2526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14400" y="2011680"/>
            <a:ext cx="3291480" cy="31068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914400" y="2011680"/>
            <a:ext cx="329148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3FD5FF"/>
                </a:solidFill>
                <a:latin typeface="Roboto"/>
                <a:ea typeface="Roboto"/>
                <a:cs typeface="Roboto"/>
                <a:sym typeface="Roboto"/>
              </a:rPr>
              <a:t>COMPETENCIAS DEL PERFIL DE EGRESO</a:t>
            </a:r>
            <a:endParaRPr sz="1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914400" y="2449492"/>
            <a:ext cx="46782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BeatsCloud aplica de forma práctica:</a:t>
            </a:r>
            <a:endParaRPr i="1" sz="16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14400" y="3090600"/>
            <a:ext cx="82080" cy="82080"/>
          </a:xfrm>
          <a:prstGeom prst="ellipse">
            <a:avLst/>
          </a:prstGeom>
          <a:solidFill>
            <a:srgbClr val="3FD5FF"/>
          </a:solidFill>
          <a:ln cap="flat" cmpd="sng" w="12700">
            <a:solidFill>
              <a:srgbClr val="3F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134000" y="2991395"/>
            <a:ext cx="4458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Gestión de proyectos informáticos.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14400" y="3518549"/>
            <a:ext cx="82200" cy="82200"/>
          </a:xfrm>
          <a:prstGeom prst="ellipse">
            <a:avLst/>
          </a:prstGeom>
          <a:solidFill>
            <a:srgbClr val="3FD5FF"/>
          </a:solidFill>
          <a:ln cap="flat" cmpd="sng" w="12700">
            <a:solidFill>
              <a:srgbClr val="3F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134000" y="3419344"/>
            <a:ext cx="4458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Desarrollo e integración de soluciones web.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914400" y="4239232"/>
            <a:ext cx="82200" cy="82200"/>
          </a:xfrm>
          <a:prstGeom prst="ellipse">
            <a:avLst/>
          </a:prstGeom>
          <a:solidFill>
            <a:srgbClr val="3FD5FF"/>
          </a:solidFill>
          <a:ln cap="flat" cmpd="sng" w="12700">
            <a:solidFill>
              <a:srgbClr val="3F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134000" y="4139667"/>
            <a:ext cx="4458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Gestión y consulta de bases de datos.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14400" y="4681800"/>
            <a:ext cx="82080" cy="82080"/>
          </a:xfrm>
          <a:prstGeom prst="ellipse">
            <a:avLst/>
          </a:prstGeom>
          <a:solidFill>
            <a:srgbClr val="3FD5FF"/>
          </a:solidFill>
          <a:ln cap="flat" cmpd="sng" w="12700">
            <a:solidFill>
              <a:srgbClr val="3F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1134000" y="4582235"/>
            <a:ext cx="4458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Aplicación de metodologías ágiles.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914400" y="5212080"/>
            <a:ext cx="82080" cy="82080"/>
          </a:xfrm>
          <a:prstGeom prst="ellipse">
            <a:avLst/>
          </a:prstGeom>
          <a:solidFill>
            <a:srgbClr val="3FD5FF"/>
          </a:solidFill>
          <a:ln cap="flat" cmpd="sng" w="12700">
            <a:solidFill>
              <a:srgbClr val="3FD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134000" y="5040515"/>
            <a:ext cx="4458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Diseño, desarrollo, integración y validación de funcionalidades de software.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278760" y="1737360"/>
            <a:ext cx="5318280" cy="4343040"/>
          </a:xfrm>
          <a:prstGeom prst="roundRect">
            <a:avLst>
              <a:gd fmla="val 2526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598800" y="2011680"/>
            <a:ext cx="2377080" cy="31068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598800" y="2011680"/>
            <a:ext cx="237708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9066FF"/>
                </a:solidFill>
                <a:latin typeface="Roboto"/>
                <a:ea typeface="Roboto"/>
                <a:cs typeface="Roboto"/>
                <a:sym typeface="Roboto"/>
              </a:rPr>
              <a:t>INTERESES PROFESIONALES</a:t>
            </a:r>
            <a:endParaRPr sz="1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598800" y="2322143"/>
            <a:ext cx="46782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El proyecto conecta al equipo con sus intereses en:</a:t>
            </a:r>
            <a:endParaRPr i="1" sz="16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598800" y="3036022"/>
            <a:ext cx="82200" cy="82200"/>
          </a:xfrm>
          <a:prstGeom prst="ellipse">
            <a:avLst/>
          </a:prstGeom>
          <a:solidFill>
            <a:srgbClr val="9066FF"/>
          </a:solidFill>
          <a:ln cap="flat" cmpd="sng" w="12700">
            <a:solidFill>
              <a:srgbClr val="9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818400" y="2936817"/>
            <a:ext cx="4458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Desarrollo de software y programación web.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598800" y="3668633"/>
            <a:ext cx="82200" cy="82200"/>
          </a:xfrm>
          <a:prstGeom prst="ellipse">
            <a:avLst/>
          </a:prstGeom>
          <a:solidFill>
            <a:srgbClr val="9066FF"/>
          </a:solidFill>
          <a:ln cap="flat" cmpd="sng" w="12700">
            <a:solidFill>
              <a:srgbClr val="9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818400" y="3569428"/>
            <a:ext cx="4458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Bases de datos y gestión de proyectos informáticos.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598800" y="4279476"/>
            <a:ext cx="4678200" cy="16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Contribuye al desarrollo profesional del equipo al permitir aplicar conocimientos de la carrera, fortalecer habilidades técnicas, trabajar colaborativamente y adquirir experiencia en un proyecto de software similar a los del campo laboral.</a:t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9436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BEATSCLOUD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885420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CAPSTONE · KICK OFF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8147751" y="5330700"/>
            <a:ext cx="435600" cy="4374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147751" y="4047209"/>
            <a:ext cx="435600" cy="437400"/>
          </a:xfrm>
          <a:prstGeom prst="ellipse">
            <a:avLst/>
          </a:prstGeom>
          <a:solidFill>
            <a:srgbClr val="BEFF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360199" y="4047209"/>
            <a:ext cx="435600" cy="437400"/>
          </a:xfrm>
          <a:prstGeom prst="ellipse">
            <a:avLst/>
          </a:prstGeom>
          <a:solidFill>
            <a:srgbClr val="9066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72647" y="5330700"/>
            <a:ext cx="435600" cy="4374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360199" y="5330700"/>
            <a:ext cx="435600" cy="437400"/>
          </a:xfrm>
          <a:prstGeom prst="ellipse">
            <a:avLst/>
          </a:prstGeom>
          <a:solidFill>
            <a:srgbClr val="BEFF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147749" y="5311577"/>
            <a:ext cx="435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000"/>
              <a:buFont typeface="Calibri"/>
              <a:buNone/>
            </a:pPr>
            <a:r>
              <a:rPr b="1" i="0" lang="en-US" sz="2400" u="none" cap="none" strike="noStrike">
                <a:solidFill>
                  <a:srgbClr val="0B102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360198" y="5311577"/>
            <a:ext cx="435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000"/>
              <a:buFont typeface="Calibri"/>
              <a:buNone/>
            </a:pPr>
            <a:r>
              <a:rPr b="1" i="0" lang="en-US" sz="2400" u="none" cap="none" strike="noStrike">
                <a:solidFill>
                  <a:srgbClr val="0B102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72647" y="5311577"/>
            <a:ext cx="435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000"/>
              <a:buFont typeface="Calibri"/>
              <a:buNone/>
            </a:pPr>
            <a:r>
              <a:rPr b="1" i="0" lang="en-US" sz="2400" u="none" cap="none" strike="noStrike">
                <a:solidFill>
                  <a:srgbClr val="0B102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147749" y="4028080"/>
            <a:ext cx="435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000"/>
              <a:buFont typeface="Calibri"/>
              <a:buNone/>
            </a:pPr>
            <a:r>
              <a:rPr b="1" i="0" lang="en-US" sz="2400" u="none" cap="none" strike="noStrike">
                <a:solidFill>
                  <a:srgbClr val="0B102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360198" y="4028080"/>
            <a:ext cx="435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000"/>
              <a:buFont typeface="Calibri"/>
              <a:buNone/>
            </a:pPr>
            <a:r>
              <a:rPr b="1" i="0" lang="en-US" sz="2400" u="none" cap="none" strike="noStrike">
                <a:solidFill>
                  <a:srgbClr val="0B102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72647" y="4058542"/>
            <a:ext cx="435600" cy="437400"/>
          </a:xfrm>
          <a:prstGeom prst="ellipse">
            <a:avLst/>
          </a:prstGeom>
          <a:solidFill>
            <a:srgbClr val="BEFF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9436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050012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94360" y="713160"/>
            <a:ext cx="1100268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Objetivos</a:t>
            </a:r>
            <a:endParaRPr sz="5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94300" y="1801450"/>
            <a:ext cx="2194200" cy="31080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94300" y="1801450"/>
            <a:ext cx="2194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OBJETIVO GENERAL</a:t>
            </a:r>
            <a:endParaRPr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94350" y="2246538"/>
            <a:ext cx="103626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Desarrollar una plataforma web que </a:t>
            </a:r>
            <a:r>
              <a:rPr lang="en-US" sz="19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permita</a:t>
            </a:r>
            <a:r>
              <a:rPr lang="en-US" sz="19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 a productores musicales publicar y comercializar sus instrumentales, facilitando a artistas y otros usuarios la búsqueda, compra y descarga de pistas musicales dentro de un entorno digital organizado y funcional.</a:t>
            </a:r>
            <a:endParaRPr sz="19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94360" y="3383120"/>
            <a:ext cx="2194200" cy="31080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94360" y="3383120"/>
            <a:ext cx="2194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8B5CF6"/>
                </a:solidFill>
                <a:latin typeface="Roboto"/>
                <a:ea typeface="Roboto"/>
                <a:cs typeface="Roboto"/>
                <a:sym typeface="Roboto"/>
              </a:rPr>
              <a:t>OBJETIVOS ESPECÍFICOS</a:t>
            </a:r>
            <a:endParaRPr sz="1300" u="none" strike="noStrike">
              <a:solidFill>
                <a:srgbClr val="8B5CF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9436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BEATSCLOUD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885420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CAPSTONE · KICK OFF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72647" y="4057302"/>
            <a:ext cx="435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000"/>
              <a:buFont typeface="Calibri"/>
              <a:buNone/>
            </a:pPr>
            <a:r>
              <a:rPr b="1" i="0" lang="en-US" sz="2400" u="none" cap="none" strike="noStrike">
                <a:solidFill>
                  <a:srgbClr val="0B102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i="0" sz="2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181421" y="3915650"/>
            <a:ext cx="27459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i="0" lang="en-US" sz="19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Levantar requerimientos</a:t>
            </a:r>
            <a:endParaRPr i="0" sz="1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181421" y="4248407"/>
            <a:ext cx="2840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Calibri"/>
              <a:buNone/>
            </a:pPr>
            <a:r>
              <a:rPr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Historias de usuario y flujos funcionales.</a:t>
            </a:r>
            <a:endParaRPr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968973" y="3915650"/>
            <a:ext cx="27459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i="0" lang="en-US" sz="19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Diseñar datos</a:t>
            </a:r>
            <a:endParaRPr i="0" sz="1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968973" y="4248407"/>
            <a:ext cx="2840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Calibri"/>
              <a:buNone/>
            </a:pPr>
            <a:r>
              <a:rPr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PostgreSQL, usuarios, productos, licencias y compras.</a:t>
            </a:r>
            <a:endParaRPr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756524" y="3915650"/>
            <a:ext cx="27459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i="0" lang="en-US" sz="19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Integrar cloud</a:t>
            </a:r>
            <a:endParaRPr i="0" sz="1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756524" y="4248407"/>
            <a:ext cx="2840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Calibri"/>
              <a:buNone/>
            </a:pPr>
            <a:r>
              <a:rPr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Object Storage, MP3/WAV/Stems y URLs seguras.</a:t>
            </a:r>
            <a:endParaRPr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181421" y="5199141"/>
            <a:ext cx="27459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i="0" lang="en-US" sz="19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Construir plataforma</a:t>
            </a:r>
            <a:endParaRPr i="0" sz="1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1181421" y="5531899"/>
            <a:ext cx="2840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Calibri"/>
              <a:buNone/>
            </a:pPr>
            <a:r>
              <a:rPr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Frontend, backend, reproductor y gestión de contenido.</a:t>
            </a:r>
            <a:endParaRPr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968973" y="5199141"/>
            <a:ext cx="27459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i="0" lang="en-US" sz="19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Implementar pagos</a:t>
            </a:r>
            <a:endParaRPr i="0" sz="1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968973" y="5531899"/>
            <a:ext cx="2840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Calibri"/>
              <a:buNone/>
            </a:pPr>
            <a:r>
              <a:rPr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Carrito, licencias y Transbank/Webpay.</a:t>
            </a:r>
            <a:endParaRPr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8756524" y="5199141"/>
            <a:ext cx="27459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400"/>
              <a:buFont typeface="Calibri"/>
              <a:buNone/>
            </a:pPr>
            <a:r>
              <a:rPr b="1" i="0" lang="en-US" sz="1900" u="none" cap="none" strike="noStrike">
                <a:solidFill>
                  <a:srgbClr val="F8FAFC"/>
                </a:solidFill>
                <a:latin typeface="Roboto"/>
                <a:ea typeface="Roboto"/>
                <a:cs typeface="Roboto"/>
                <a:sym typeface="Roboto"/>
              </a:rPr>
              <a:t>Validar calidad</a:t>
            </a:r>
            <a:endParaRPr i="0" sz="1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8756524" y="5531899"/>
            <a:ext cx="28404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Calibri"/>
              <a:buNone/>
            </a:pPr>
            <a:r>
              <a:rPr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Pruebas funcionales, usabilidad y seguridad.</a:t>
            </a:r>
            <a:endParaRPr i="0" sz="1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/>
          <p:nvPr/>
        </p:nvSpPr>
        <p:spPr>
          <a:xfrm>
            <a:off x="59436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050012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94360" y="713160"/>
            <a:ext cx="1100268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Metodología</a:t>
            </a:r>
            <a:endParaRPr sz="5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94360" y="1737360"/>
            <a:ext cx="5318280" cy="4343040"/>
          </a:xfrm>
          <a:prstGeom prst="roundRect">
            <a:avLst>
              <a:gd fmla="val 2526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914400" y="2011680"/>
            <a:ext cx="1645560" cy="31068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914400" y="2011680"/>
            <a:ext cx="16455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none" strike="noStrike">
                <a:solidFill>
                  <a:srgbClr val="9066FF"/>
                </a:solidFill>
                <a:latin typeface="Roboto"/>
                <a:ea typeface="Roboto"/>
                <a:cs typeface="Roboto"/>
                <a:sym typeface="Roboto"/>
              </a:rPr>
              <a:t>DESIGN THINKING</a:t>
            </a:r>
            <a:endParaRPr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914400" y="2468880"/>
            <a:ext cx="46782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Fase inicial</a:t>
            </a:r>
            <a:endParaRPr sz="3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914400" y="3063240"/>
            <a:ext cx="1137960" cy="32868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914400" y="3063240"/>
            <a:ext cx="113796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none" strike="noStrike">
                <a:solidFill>
                  <a:srgbClr val="9066FF"/>
                </a:solidFill>
                <a:latin typeface="Roboto"/>
                <a:ea typeface="Roboto"/>
                <a:cs typeface="Roboto"/>
                <a:sym typeface="Roboto"/>
              </a:rPr>
              <a:t>EMPATIZAR</a:t>
            </a:r>
            <a:endParaRPr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189880" y="3063240"/>
            <a:ext cx="946080" cy="32868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2189880" y="3063240"/>
            <a:ext cx="946080" cy="32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none" strike="noStrike">
                <a:solidFill>
                  <a:srgbClr val="9066FF"/>
                </a:solidFill>
                <a:latin typeface="Roboto"/>
                <a:ea typeface="Roboto"/>
                <a:cs typeface="Roboto"/>
                <a:sym typeface="Roboto"/>
              </a:rPr>
              <a:t>DEFINIR</a:t>
            </a:r>
            <a:endParaRPr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914400" y="3566160"/>
            <a:ext cx="467820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-US" sz="21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e aplican principios de Design Thinking para estructurar una interfaz intuitiva (ej. Drag &amp; Drop) orientada a la experiencia de productores y artistas.</a:t>
            </a:r>
            <a:endParaRPr sz="2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914400" y="5039328"/>
            <a:ext cx="10968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Ejemplo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914400" y="5370219"/>
            <a:ext cx="1330200" cy="32880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914400" y="5359368"/>
            <a:ext cx="1330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DRAG &amp; DROP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278760" y="1737360"/>
            <a:ext cx="5318280" cy="4343040"/>
          </a:xfrm>
          <a:prstGeom prst="roundRect">
            <a:avLst>
              <a:gd fmla="val 2526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598800" y="2011680"/>
            <a:ext cx="731160" cy="31068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598800" y="2011680"/>
            <a:ext cx="7311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SCRUM</a:t>
            </a:r>
            <a:endParaRPr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598800" y="2468880"/>
            <a:ext cx="4678200" cy="502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Desarrollo y ejecución</a:t>
            </a:r>
            <a:endParaRPr sz="3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598800" y="3347124"/>
            <a:ext cx="82200" cy="82200"/>
          </a:xfrm>
          <a:prstGeom prst="ellipse">
            <a:avLst/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818400" y="3219324"/>
            <a:ext cx="4458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Product Backlog priorizado</a:t>
            </a:r>
            <a:endParaRPr sz="2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6598800" y="3785964"/>
            <a:ext cx="82200" cy="82200"/>
          </a:xfrm>
          <a:prstGeom prst="ellipse">
            <a:avLst/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818400" y="3658164"/>
            <a:ext cx="4458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Sprint Backlog + Scrumboard</a:t>
            </a:r>
            <a:endParaRPr sz="2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598800" y="4225164"/>
            <a:ext cx="82200" cy="82200"/>
          </a:xfrm>
          <a:prstGeom prst="ellipse">
            <a:avLst/>
          </a:prstGeom>
          <a:solidFill>
            <a:srgbClr val="BEFF3E"/>
          </a:solidFill>
          <a:ln cap="flat" cmpd="sng" w="12700">
            <a:solidFill>
              <a:srgbClr val="BEF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3300" lIns="90000" spcFirstLastPara="1" rIns="90000" wrap="square" tIns="13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818400" y="4097004"/>
            <a:ext cx="44586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Review + Retrospective</a:t>
            </a:r>
            <a:endParaRPr sz="2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6598800" y="4862218"/>
            <a:ext cx="1462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18 semanas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8256923" y="4912463"/>
            <a:ext cx="32151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-US" sz="15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arta Gantt→hitos académicos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598800" y="5227664"/>
            <a:ext cx="4678200" cy="2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 u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Roles rotativos por Sprint · detalle técnico gestionado de forma iterativa</a:t>
            </a:r>
            <a:endParaRPr i="1" sz="1300" u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9436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BEATSCLOUD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885420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CAPSTONE · KICK OFF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/>
          <p:nvPr/>
        </p:nvSpPr>
        <p:spPr>
          <a:xfrm>
            <a:off x="59436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050012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A4A8B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94360" y="713160"/>
            <a:ext cx="1100268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Plan de trabajo</a:t>
            </a:r>
            <a:endParaRPr sz="5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94360" y="1633165"/>
            <a:ext cx="26514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Actividad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3246120" y="1633165"/>
            <a:ext cx="9141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Duración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251960" y="1633165"/>
            <a:ext cx="32916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Foco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7635240" y="1633165"/>
            <a:ext cx="31086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Recursos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6" name="Google Shape;226;p7"/>
          <p:cNvCxnSpPr/>
          <p:nvPr/>
        </p:nvCxnSpPr>
        <p:spPr>
          <a:xfrm>
            <a:off x="594360" y="2016925"/>
            <a:ext cx="11002800" cy="300"/>
          </a:xfrm>
          <a:prstGeom prst="straightConnector1">
            <a:avLst/>
          </a:prstGeom>
          <a:noFill/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7"/>
          <p:cNvSpPr/>
          <p:nvPr/>
        </p:nvSpPr>
        <p:spPr>
          <a:xfrm>
            <a:off x="594360" y="2090365"/>
            <a:ext cx="26058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Diseño de Arquitectura y BD</a:t>
            </a:r>
            <a:endParaRPr sz="2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246120" y="2280408"/>
            <a:ext cx="822600" cy="32880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3246120" y="2280408"/>
            <a:ext cx="8226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S1–S2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251960" y="2046509"/>
            <a:ext cx="32457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Modelo E-R · PostgreSQL · </a:t>
            </a:r>
            <a:r>
              <a:rPr lang="en-US" sz="2000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20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rquitectura Cloud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635240" y="2031890"/>
            <a:ext cx="31086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Figma / Draw.io, PostgreSQL, Supabase / Render</a:t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2" name="Google Shape;232;p7"/>
          <p:cNvCxnSpPr/>
          <p:nvPr/>
        </p:nvCxnSpPr>
        <p:spPr>
          <a:xfrm>
            <a:off x="594360" y="2858245"/>
            <a:ext cx="11002800" cy="300"/>
          </a:xfrm>
          <a:prstGeom prst="straightConnector1">
            <a:avLst/>
          </a:prstGeom>
          <a:noFill/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7"/>
          <p:cNvSpPr/>
          <p:nvPr/>
        </p:nvSpPr>
        <p:spPr>
          <a:xfrm>
            <a:off x="594360" y="2931685"/>
            <a:ext cx="26058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Desarrollo UI/UX y Frontend</a:t>
            </a:r>
            <a:endParaRPr sz="2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3246120" y="3121728"/>
            <a:ext cx="822600" cy="32880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3246120" y="3121728"/>
            <a:ext cx="8226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S3–S6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251960" y="2902448"/>
            <a:ext cx="32457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Auth · </a:t>
            </a:r>
            <a:r>
              <a:rPr lang="en-US" sz="2000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20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eproductor · Drag &amp; Drop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635240" y="2887829"/>
            <a:ext cx="31086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React, TailwindCSS, Vercel</a:t>
            </a:r>
            <a:endParaRPr sz="2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8" name="Google Shape;238;p7"/>
          <p:cNvCxnSpPr/>
          <p:nvPr/>
        </p:nvCxnSpPr>
        <p:spPr>
          <a:xfrm>
            <a:off x="594360" y="3699565"/>
            <a:ext cx="11002800" cy="300"/>
          </a:xfrm>
          <a:prstGeom prst="straightConnector1">
            <a:avLst/>
          </a:prstGeom>
          <a:noFill/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7"/>
          <p:cNvSpPr/>
          <p:nvPr/>
        </p:nvSpPr>
        <p:spPr>
          <a:xfrm>
            <a:off x="594360" y="3773005"/>
            <a:ext cx="26058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Integración Cloud y Backend</a:t>
            </a:r>
            <a:endParaRPr sz="2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246120" y="3963048"/>
            <a:ext cx="822600" cy="32880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246120" y="3963048"/>
            <a:ext cx="8226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S7–S10</a:t>
            </a:r>
            <a:endParaRPr sz="16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4251960" y="3773005"/>
            <a:ext cx="32457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Cloudflare R2 · Presigned URLs · Direct Upload</a:t>
            </a:r>
            <a:endParaRPr sz="2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635240" y="3758386"/>
            <a:ext cx="31086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Python, Django REST, SDK Transbank, </a:t>
            </a:r>
            <a:r>
              <a:rPr lang="en-US" sz="17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Cloudflare R2, SDK S3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" name="Google Shape;244;p7"/>
          <p:cNvCxnSpPr/>
          <p:nvPr/>
        </p:nvCxnSpPr>
        <p:spPr>
          <a:xfrm>
            <a:off x="594360" y="4540885"/>
            <a:ext cx="11002800" cy="300"/>
          </a:xfrm>
          <a:prstGeom prst="straightConnector1">
            <a:avLst/>
          </a:prstGeom>
          <a:noFill/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7"/>
          <p:cNvSpPr/>
          <p:nvPr/>
        </p:nvSpPr>
        <p:spPr>
          <a:xfrm>
            <a:off x="594360" y="4613965"/>
            <a:ext cx="26058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Motor de Pagos y Carrito</a:t>
            </a:r>
            <a:endParaRPr sz="2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246120" y="4804008"/>
            <a:ext cx="822600" cy="32880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246120" y="4804008"/>
            <a:ext cx="8226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S11–S13</a:t>
            </a:r>
            <a:endParaRPr sz="14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251960" y="4584728"/>
            <a:ext cx="32457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Carrito · </a:t>
            </a:r>
            <a:r>
              <a:rPr lang="en-US" sz="2100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L</a:t>
            </a:r>
            <a:r>
              <a:rPr lang="en-US" sz="2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icencias · Transbank</a:t>
            </a:r>
            <a:endParaRPr sz="2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7635240" y="4584728"/>
            <a:ext cx="31086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API Transbank, B</a:t>
            </a:r>
            <a:r>
              <a:rPr lang="en-US" sz="2200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DD</a:t>
            </a:r>
            <a:r>
              <a:rPr lang="en-US" sz="22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, Frontend</a:t>
            </a:r>
            <a:endParaRPr sz="2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0" name="Google Shape;250;p7"/>
          <p:cNvCxnSpPr/>
          <p:nvPr/>
        </p:nvCxnSpPr>
        <p:spPr>
          <a:xfrm>
            <a:off x="594360" y="5382205"/>
            <a:ext cx="11002800" cy="300"/>
          </a:xfrm>
          <a:prstGeom prst="straightConnector1">
            <a:avLst/>
          </a:prstGeom>
          <a:noFill/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7"/>
          <p:cNvSpPr/>
          <p:nvPr/>
        </p:nvSpPr>
        <p:spPr>
          <a:xfrm>
            <a:off x="594360" y="5455285"/>
            <a:ext cx="26058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QA, Pruebas y Despliegue</a:t>
            </a:r>
            <a:endParaRPr sz="2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246120" y="5645328"/>
            <a:ext cx="822600" cy="328800"/>
          </a:xfrm>
          <a:prstGeom prst="roundRect">
            <a:avLst>
              <a:gd fmla="val 1666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246120" y="5645328"/>
            <a:ext cx="8226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S14–S18</a:t>
            </a:r>
            <a:endParaRPr sz="14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251950" y="5432794"/>
            <a:ext cx="32457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Seguridad · </a:t>
            </a:r>
            <a:r>
              <a:rPr lang="en-US" sz="2300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lang="en-US" sz="23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strés · </a:t>
            </a:r>
            <a:r>
              <a:rPr lang="en-US" sz="2300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P</a:t>
            </a:r>
            <a:r>
              <a:rPr lang="en-US" sz="23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roducción</a:t>
            </a:r>
            <a:endParaRPr sz="2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7635250" y="5418182"/>
            <a:ext cx="37947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Entorno de producción, usuarios de prueba</a:t>
            </a:r>
            <a:endParaRPr sz="2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59436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BEATSCLOUD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885420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CAPSTONE · KICK OFF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"/>
          <p:cNvSpPr/>
          <p:nvPr/>
        </p:nvSpPr>
        <p:spPr>
          <a:xfrm>
            <a:off x="59436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050012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06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594360" y="713160"/>
            <a:ext cx="1100268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Factibilidad, riesgos, mitigaciones...</a:t>
            </a:r>
            <a:endParaRPr sz="4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594350" y="1574702"/>
            <a:ext cx="11002800" cy="1493700"/>
          </a:xfrm>
          <a:prstGeom prst="roundRect">
            <a:avLst>
              <a:gd fmla="val 8000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749350" y="1702665"/>
            <a:ext cx="1371300" cy="31080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49325" y="1702665"/>
            <a:ext cx="1371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FACTIBILIDAD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749325" y="2063966"/>
            <a:ext cx="10362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Se cuenta con una versión Alpha en Django, reduciendo la incertidumbre técnica inicial y permitiendo enfocar el semestre en el desacoplamiento arquitectónico (API REST) y la integración de servicios (Webpay/Cloudflare R2).</a:t>
            </a:r>
            <a:endParaRPr sz="19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94360" y="3291840"/>
            <a:ext cx="3017160" cy="31068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94360" y="3291840"/>
            <a:ext cx="30171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 u="none" strike="noStrike">
                <a:solidFill>
                  <a:srgbClr val="FF5D8F"/>
                </a:solidFill>
                <a:latin typeface="Roboto"/>
                <a:ea typeface="Roboto"/>
                <a:cs typeface="Roboto"/>
                <a:sym typeface="Roboto"/>
              </a:rPr>
              <a:t>RIESGOS Y MITIGACIÓN</a:t>
            </a:r>
            <a:endParaRPr sz="19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94360" y="3749040"/>
            <a:ext cx="3484440" cy="2239920"/>
          </a:xfrm>
          <a:prstGeom prst="roundRect">
            <a:avLst>
              <a:gd fmla="val 4898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749325" y="3879975"/>
            <a:ext cx="30912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4" u="none" strike="noStrike">
                <a:solidFill>
                  <a:srgbClr val="FF5D8F"/>
                </a:solidFill>
                <a:latin typeface="Roboto"/>
                <a:ea typeface="Roboto"/>
                <a:cs typeface="Roboto"/>
                <a:sym typeface="Roboto"/>
              </a:rPr>
              <a:t>RIESGOS</a:t>
            </a:r>
            <a:endParaRPr sz="1474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749325" y="4168817"/>
            <a:ext cx="30912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27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1" lang="en-US" sz="2527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écnicos</a:t>
            </a:r>
            <a:endParaRPr sz="2527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749325" y="4715817"/>
            <a:ext cx="30912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5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MITIGACIÓN</a:t>
            </a:r>
            <a:endParaRPr sz="1685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749325" y="5052805"/>
            <a:ext cx="30912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Planificación y distribución adecuada de tareas entre el equipo.</a:t>
            </a:r>
            <a:endParaRPr sz="179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353480" y="3749040"/>
            <a:ext cx="3484440" cy="2239920"/>
          </a:xfrm>
          <a:prstGeom prst="roundRect">
            <a:avLst>
              <a:gd fmla="val 4898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486725" y="3901675"/>
            <a:ext cx="3032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46" u="none" strike="noStrike">
                <a:solidFill>
                  <a:srgbClr val="FF5D8F"/>
                </a:solidFill>
                <a:latin typeface="Roboto"/>
                <a:ea typeface="Roboto"/>
                <a:cs typeface="Roboto"/>
                <a:sym typeface="Roboto"/>
              </a:rPr>
              <a:t>RIESGOS</a:t>
            </a:r>
            <a:endParaRPr sz="1446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486725" y="4185000"/>
            <a:ext cx="32238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3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De </a:t>
            </a:r>
            <a:r>
              <a:rPr b="1" lang="en-US" sz="1653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integración de funcionalidades</a:t>
            </a:r>
            <a:endParaRPr sz="1653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486725" y="4832523"/>
            <a:ext cx="30324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3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MITIGACIÓN</a:t>
            </a:r>
            <a:endParaRPr sz="1653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486725" y="5151878"/>
            <a:ext cx="30324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49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Pruebas periódicas para detectar y corregir problemas durante el desarrollo.</a:t>
            </a:r>
            <a:endParaRPr sz="1549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8112600" y="3749040"/>
            <a:ext cx="3484440" cy="2239920"/>
          </a:xfrm>
          <a:prstGeom prst="roundRect">
            <a:avLst>
              <a:gd fmla="val 4898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8256700" y="3858275"/>
            <a:ext cx="30912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74" u="none" strike="noStrike">
                <a:solidFill>
                  <a:srgbClr val="FF5D8F"/>
                </a:solidFill>
                <a:latin typeface="Roboto"/>
                <a:ea typeface="Roboto"/>
                <a:cs typeface="Roboto"/>
                <a:sym typeface="Roboto"/>
              </a:rPr>
              <a:t>RIESGOS</a:t>
            </a:r>
            <a:endParaRPr sz="1474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256700" y="4147126"/>
            <a:ext cx="30912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11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lang="en-US" sz="2211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e tiempo</a:t>
            </a:r>
            <a:endParaRPr sz="2211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8256700" y="4715835"/>
            <a:ext cx="3091200" cy="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5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MITIGACIÓN</a:t>
            </a:r>
            <a:endParaRPr sz="1685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8256700" y="5052834"/>
            <a:ext cx="30912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85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Distribución de tareas por etapas, apoyada en Carta Gantt para hitos académicos.</a:t>
            </a:r>
            <a:endParaRPr sz="1685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9436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BEATSCLOUD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885420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CAPSTONE · KICK OFF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9"/>
          <p:cNvSpPr/>
          <p:nvPr/>
        </p:nvSpPr>
        <p:spPr>
          <a:xfrm>
            <a:off x="8113160" y="4709160"/>
            <a:ext cx="3484500" cy="1234200"/>
          </a:xfrm>
          <a:prstGeom prst="roundRect">
            <a:avLst>
              <a:gd fmla="val 8889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0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8293475" y="5154205"/>
            <a:ext cx="338400" cy="344100"/>
          </a:xfrm>
          <a:prstGeom prst="ellipse">
            <a:avLst/>
          </a:prstGeom>
          <a:solidFill>
            <a:srgbClr val="9066FF"/>
          </a:solidFill>
          <a:ln cap="flat" cmpd="sng" w="12825">
            <a:solidFill>
              <a:srgbClr val="9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375" lIns="90750" spcFirstLastPara="1" rIns="90750" wrap="square" tIns="45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15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8325720" y="5176502"/>
            <a:ext cx="273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0B1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2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353760" y="4714810"/>
            <a:ext cx="3484500" cy="1234200"/>
          </a:xfrm>
          <a:prstGeom prst="roundRect">
            <a:avLst>
              <a:gd fmla="val 8889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0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534075" y="5159855"/>
            <a:ext cx="338400" cy="344100"/>
          </a:xfrm>
          <a:prstGeom prst="ellipse">
            <a:avLst/>
          </a:prstGeom>
          <a:solidFill>
            <a:srgbClr val="9066FF"/>
          </a:solidFill>
          <a:ln cap="flat" cmpd="sng" w="12825">
            <a:solidFill>
              <a:srgbClr val="9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375" lIns="90750" spcFirstLastPara="1" rIns="90750" wrap="square" tIns="45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15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566320" y="5182152"/>
            <a:ext cx="273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0B1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2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594360" y="4709160"/>
            <a:ext cx="3484500" cy="1234200"/>
          </a:xfrm>
          <a:prstGeom prst="roundRect">
            <a:avLst>
              <a:gd fmla="val 8889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9436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07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1050012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07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594360" y="713160"/>
            <a:ext cx="11002680" cy="776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Plan de evidencias e indicadores de calidad</a:t>
            </a:r>
            <a:endParaRPr sz="4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594360" y="1691640"/>
            <a:ext cx="3484440" cy="2331360"/>
          </a:xfrm>
          <a:prstGeom prst="roundRect">
            <a:avLst>
              <a:gd fmla="val 4706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850320" y="1920240"/>
            <a:ext cx="822600" cy="31068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850320" y="1920240"/>
            <a:ext cx="82260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none" strike="noStrike">
                <a:solidFill>
                  <a:srgbClr val="3FD5FF"/>
                </a:solidFill>
                <a:latin typeface="Roboto"/>
                <a:ea typeface="Roboto"/>
                <a:cs typeface="Roboto"/>
                <a:sym typeface="Roboto"/>
              </a:rPr>
              <a:t>AVANCE</a:t>
            </a:r>
            <a:endParaRPr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850320" y="2377440"/>
            <a:ext cx="297252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Visión del Proyecto y Product Backlog</a:t>
            </a:r>
            <a:endParaRPr sz="135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850325" y="2650077"/>
            <a:ext cx="29724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Épicas e Historias de Usuario enfocadas en funcionalidades de productores y artistas (subida de beats, drag &amp; drop, etc.).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4353480" y="1691640"/>
            <a:ext cx="3484440" cy="2331360"/>
          </a:xfrm>
          <a:prstGeom prst="roundRect">
            <a:avLst>
              <a:gd fmla="val 4706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609440" y="1920240"/>
            <a:ext cx="822600" cy="31068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4609440" y="1920240"/>
            <a:ext cx="82260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u="none" strike="noStrike">
                <a:solidFill>
                  <a:srgbClr val="3FD5FF"/>
                </a:solidFill>
                <a:latin typeface="Roboto"/>
                <a:ea typeface="Roboto"/>
                <a:cs typeface="Roboto"/>
                <a:sym typeface="Roboto"/>
              </a:rPr>
              <a:t>AVANCE</a:t>
            </a:r>
            <a:endParaRPr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609440" y="2377440"/>
            <a:ext cx="297252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Modelos de Datos, Arquitectura y Scrumboard (MVP)</a:t>
            </a:r>
            <a:endParaRPr sz="135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609440" y="2837520"/>
            <a:ext cx="297252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Modelos de Datos y Arquitectura (PostgreSQL y Cloudflare R2), junto con evidencia visual del Sprint Backlog y Scrumboard.</a:t>
            </a:r>
            <a:endParaRPr sz="16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8112600" y="1691640"/>
            <a:ext cx="3484440" cy="2331360"/>
          </a:xfrm>
          <a:prstGeom prst="roundRect">
            <a:avLst>
              <a:gd fmla="val 4706" name="adj"/>
            </a:avLst>
          </a:prstGeom>
          <a:solidFill>
            <a:srgbClr val="12141C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  <a:effectLst>
            <a:outerShdw blurRad="101520" rotWithShape="0" algn="bl" dir="5400000" dist="38160">
              <a:srgbClr val="000000">
                <a:alpha val="34902"/>
              </a:srgbClr>
            </a:outerShdw>
          </a:effectLst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8368560" y="1920240"/>
            <a:ext cx="731160" cy="31068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8368560" y="1920240"/>
            <a:ext cx="7311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FINAL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8368560" y="2377440"/>
            <a:ext cx="297252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Incremento de Producto y Reporte de Eventos Clave</a:t>
            </a:r>
            <a:endParaRPr sz="135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368560" y="2837520"/>
            <a:ext cx="297252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Plataforma BeatsCloud desaco</a:t>
            </a:r>
            <a:r>
              <a:rPr lang="en-US" sz="1200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plada</a:t>
            </a:r>
            <a:r>
              <a:rPr lang="en-US" sz="12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 (Frontend React + API Django) desplegada en producción (Transbank y almacenamiento Cloud integrados), resumen de Review &amp; Retrospective y Burndown Chart final.</a:t>
            </a:r>
            <a:endParaRPr sz="1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774675" y="5154205"/>
            <a:ext cx="338400" cy="344100"/>
          </a:xfrm>
          <a:prstGeom prst="ellipse">
            <a:avLst/>
          </a:prstGeom>
          <a:solidFill>
            <a:srgbClr val="9066FF"/>
          </a:solidFill>
          <a:ln cap="flat" cmpd="sng" w="12825">
            <a:solidFill>
              <a:srgbClr val="906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375" lIns="90750" spcFirstLastPara="1" rIns="90750" wrap="square" tIns="45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15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594360" y="4251960"/>
            <a:ext cx="3565800" cy="310680"/>
          </a:xfrm>
          <a:prstGeom prst="roundRect">
            <a:avLst>
              <a:gd fmla="val 17647" name="adj"/>
            </a:avLst>
          </a:prstGeom>
          <a:solidFill>
            <a:srgbClr val="1C1E28"/>
          </a:solidFill>
          <a:ln cap="flat" cmpd="sng" w="12700">
            <a:solidFill>
              <a:srgbClr val="1C1E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594360" y="4251960"/>
            <a:ext cx="356580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 u="none" strike="noStrike">
                <a:solidFill>
                  <a:srgbClr val="9066FF"/>
                </a:solidFill>
                <a:latin typeface="Roboto"/>
                <a:ea typeface="Roboto"/>
                <a:cs typeface="Roboto"/>
                <a:sym typeface="Roboto"/>
              </a:rPr>
              <a:t>INDICADORES DE CALIDAD DISCIPLINARES</a:t>
            </a:r>
            <a:endParaRPr sz="1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1248975" y="4709150"/>
            <a:ext cx="25740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Pruebas de usabilidad de la plataforma.</a:t>
            </a:r>
            <a:endParaRPr sz="20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007950" y="4709150"/>
            <a:ext cx="25740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Pruebas de seguridad de los enlaces de descarga (URLs expirables).</a:t>
            </a:r>
            <a:endParaRPr sz="17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8767075" y="4709150"/>
            <a:ext cx="2574000" cy="12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Correcto funcionamiento de la pasarela de pagos (Transbank Webpay).</a:t>
            </a:r>
            <a:endParaRPr sz="18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9436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BEATSCLOUD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885420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CAPSTONE · KICK OFF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806920" y="5176502"/>
            <a:ext cx="273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0A0B1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22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"/>
          <p:cNvSpPr/>
          <p:nvPr/>
        </p:nvSpPr>
        <p:spPr>
          <a:xfrm>
            <a:off x="59436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08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10500120" y="38412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08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594660" y="3040560"/>
            <a:ext cx="11002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3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Conclusiones y reflexión</a:t>
            </a:r>
            <a:endParaRPr sz="73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59436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BEATSCLOUD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885420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CAPSTONE · KICK OFF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B10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"/>
          <p:cNvSpPr/>
          <p:nvPr/>
        </p:nvSpPr>
        <p:spPr>
          <a:xfrm>
            <a:off x="1524185" y="2560495"/>
            <a:ext cx="9143700" cy="17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00" u="none" strike="noStrike">
                <a:solidFill>
                  <a:srgbClr val="F5F5F7"/>
                </a:solidFill>
                <a:latin typeface="Roboto"/>
                <a:ea typeface="Roboto"/>
                <a:cs typeface="Roboto"/>
                <a:sym typeface="Roboto"/>
              </a:rPr>
              <a:t>¡MUCHAS GRACIAS!</a:t>
            </a:r>
            <a:endParaRPr b="1" sz="7800">
              <a:solidFill>
                <a:srgbClr val="F5F5F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59436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BEATSCLOUD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8854200" y="6473880"/>
            <a:ext cx="274284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CAPSTONE · KICK OFF</a:t>
            </a:r>
            <a:endParaRPr sz="11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594720" y="38448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BEFF3E"/>
                </a:solidFill>
                <a:latin typeface="Roboto"/>
                <a:ea typeface="Roboto"/>
                <a:cs typeface="Roboto"/>
                <a:sym typeface="Roboto"/>
              </a:rPr>
              <a:t>09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10500480" y="384480"/>
            <a:ext cx="1096920" cy="27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A4A8B4"/>
                </a:solidFill>
                <a:latin typeface="Roboto"/>
                <a:ea typeface="Roboto"/>
                <a:cs typeface="Roboto"/>
                <a:sym typeface="Roboto"/>
              </a:rPr>
              <a:t>09</a:t>
            </a:r>
            <a:endParaRPr sz="1500" u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2026-09-01T01:31:35Z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